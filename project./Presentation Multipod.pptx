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9" r:id="rId9"/>
    <p:sldId id="300" r:id="rId10"/>
    <p:sldId id="301" r:id="rId11"/>
    <p:sldId id="303" r:id="rId12"/>
    <p:sldId id="302" r:id="rId13"/>
    <p:sldId id="263" r:id="rId14"/>
    <p:sldId id="264" r:id="rId15"/>
    <p:sldId id="265" r:id="rId16"/>
    <p:sldId id="266" r:id="rId1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43" d="100"/>
          <a:sy n="143" d="100"/>
        </p:scale>
        <p:origin x="68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71409"/>
            <a:ext cx="297434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72610" y="4741541"/>
            <a:ext cx="238471" cy="2575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3575" y="386476"/>
            <a:ext cx="7996849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5837" y="1373962"/>
            <a:ext cx="8047355" cy="2804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6150" y="1538887"/>
            <a:ext cx="5195570" cy="144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b="0" dirty="0">
                <a:solidFill>
                  <a:schemeClr val="bg1"/>
                </a:solidFill>
              </a:rPr>
              <a:t>Проектирование сети ЦОД с поддержкой L2 связанности</a:t>
            </a:r>
            <a:endParaRPr sz="4000" dirty="0">
              <a:solidFill>
                <a:schemeClr val="bg1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9699" y="268875"/>
            <a:ext cx="8106409" cy="4295775"/>
            <a:chOff x="629699" y="268875"/>
            <a:chExt cx="8106409" cy="42957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13700" y="268875"/>
              <a:ext cx="822174" cy="2846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29699" y="4138025"/>
              <a:ext cx="2921000" cy="426720"/>
            </a:xfrm>
            <a:custGeom>
              <a:avLst/>
              <a:gdLst/>
              <a:ahLst/>
              <a:cxnLst/>
              <a:rect l="l" t="t" r="r" b="b"/>
              <a:pathLst>
                <a:path w="2921000" h="426720">
                  <a:moveTo>
                    <a:pt x="2849398" y="426599"/>
                  </a:moveTo>
                  <a:lnTo>
                    <a:pt x="71101" y="426599"/>
                  </a:lnTo>
                  <a:lnTo>
                    <a:pt x="43425" y="421012"/>
                  </a:lnTo>
                  <a:lnTo>
                    <a:pt x="20825" y="405774"/>
                  </a:lnTo>
                  <a:lnTo>
                    <a:pt x="5587" y="383174"/>
                  </a:lnTo>
                  <a:lnTo>
                    <a:pt x="0" y="355498"/>
                  </a:lnTo>
                  <a:lnTo>
                    <a:pt x="0" y="71101"/>
                  </a:lnTo>
                  <a:lnTo>
                    <a:pt x="5587" y="43425"/>
                  </a:lnTo>
                  <a:lnTo>
                    <a:pt x="20825" y="20825"/>
                  </a:lnTo>
                  <a:lnTo>
                    <a:pt x="43425" y="5587"/>
                  </a:lnTo>
                  <a:lnTo>
                    <a:pt x="71101" y="0"/>
                  </a:lnTo>
                  <a:lnTo>
                    <a:pt x="2849398" y="0"/>
                  </a:lnTo>
                  <a:lnTo>
                    <a:pt x="2888845" y="11945"/>
                  </a:lnTo>
                  <a:lnTo>
                    <a:pt x="2915087" y="43892"/>
                  </a:lnTo>
                  <a:lnTo>
                    <a:pt x="2920499" y="71101"/>
                  </a:lnTo>
                  <a:lnTo>
                    <a:pt x="2920499" y="355498"/>
                  </a:lnTo>
                  <a:lnTo>
                    <a:pt x="2914912" y="383174"/>
                  </a:lnTo>
                  <a:lnTo>
                    <a:pt x="2899674" y="405774"/>
                  </a:lnTo>
                  <a:lnTo>
                    <a:pt x="2877074" y="421012"/>
                  </a:lnTo>
                  <a:lnTo>
                    <a:pt x="2849398" y="426599"/>
                  </a:lnTo>
                  <a:close/>
                </a:path>
              </a:pathLst>
            </a:custGeom>
            <a:solidFill>
              <a:srgbClr val="3E299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9699" y="4167583"/>
            <a:ext cx="401850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600" spc="-10" dirty="0">
                <a:solidFill>
                  <a:srgbClr val="FFFFFF"/>
                </a:solidFill>
                <a:latin typeface="Roboto Lt"/>
                <a:cs typeface="Roboto Lt"/>
              </a:rPr>
              <a:t>Проектирование сетей ЦОД</a:t>
            </a:r>
            <a:endParaRPr sz="1600" dirty="0">
              <a:latin typeface="Roboto Lt"/>
              <a:cs typeface="Roboto L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722" y="3083693"/>
            <a:ext cx="1548450" cy="16694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7150" y="1481354"/>
            <a:ext cx="48475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Меня</a:t>
            </a:r>
            <a:r>
              <a:rPr sz="4000" spc="-135" dirty="0"/>
              <a:t> </a:t>
            </a:r>
            <a:r>
              <a:rPr sz="4000" dirty="0"/>
              <a:t>хорошо</a:t>
            </a:r>
            <a:r>
              <a:rPr sz="4000" spc="-135" dirty="0"/>
              <a:t> </a:t>
            </a:r>
            <a:r>
              <a:rPr sz="4000" spc="-10" dirty="0"/>
              <a:t>видно </a:t>
            </a:r>
            <a:r>
              <a:rPr sz="4000" dirty="0"/>
              <a:t>&amp;</a:t>
            </a:r>
            <a:r>
              <a:rPr sz="4000" spc="-10" dirty="0"/>
              <a:t> слышно?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5574" y="3890890"/>
            <a:ext cx="537261" cy="537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72610" y="4741541"/>
            <a:ext cx="238471" cy="25756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573574" y="371409"/>
            <a:ext cx="7503625" cy="14285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20" dirty="0"/>
              <a:t>Защита</a:t>
            </a:r>
            <a:r>
              <a:rPr sz="3000" spc="-140" dirty="0"/>
              <a:t> </a:t>
            </a:r>
            <a:r>
              <a:rPr sz="3000" spc="-10" dirty="0" err="1"/>
              <a:t>проекта</a:t>
            </a:r>
            <a:r>
              <a:rPr sz="3000" spc="-10" dirty="0"/>
              <a:t> </a:t>
            </a:r>
            <a:br>
              <a:rPr lang="ru-RU" sz="3000" spc="-10" dirty="0"/>
            </a:br>
            <a:r>
              <a:rPr sz="3000" spc="-10" dirty="0" err="1"/>
              <a:t>Тема</a:t>
            </a:r>
            <a:r>
              <a:rPr sz="3000" spc="-10" dirty="0"/>
              <a:t>:</a:t>
            </a:r>
            <a:r>
              <a:rPr lang="ru-RU" b="0" dirty="0"/>
              <a:t>Проектирование сети ЦОД с поддержкой L2 связанности</a:t>
            </a:r>
            <a:endParaRPr sz="3000" dirty="0"/>
          </a:p>
        </p:txBody>
      </p:sp>
      <p:sp>
        <p:nvSpPr>
          <p:cNvPr id="5" name="object 5"/>
          <p:cNvSpPr txBox="1"/>
          <p:nvPr/>
        </p:nvSpPr>
        <p:spPr>
          <a:xfrm>
            <a:off x="3972500" y="2341658"/>
            <a:ext cx="2819400" cy="10361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2300" b="1" dirty="0">
                <a:solidFill>
                  <a:srgbClr val="3E299A"/>
                </a:solidFill>
                <a:latin typeface="Roboto"/>
                <a:cs typeface="Roboto"/>
              </a:rPr>
              <a:t>Валерий Умнов</a:t>
            </a:r>
            <a:endParaRPr sz="23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105"/>
              </a:spcBef>
            </a:pPr>
            <a:r>
              <a:rPr lang="ru-RU" sz="1300" spc="-10" dirty="0">
                <a:latin typeface="Roboto Lt"/>
                <a:cs typeface="Roboto Lt"/>
              </a:rPr>
              <a:t>Старший инженер отдела эксплуатации и поддержки сети</a:t>
            </a:r>
            <a:endParaRPr sz="1300" dirty="0">
              <a:latin typeface="Roboto Lt"/>
              <a:cs typeface="Roboto 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3ABF39-7E9B-4C45-BD61-CFF7C75E2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41658"/>
            <a:ext cx="1168852" cy="14285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575" y="406250"/>
            <a:ext cx="257492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План</a:t>
            </a:r>
            <a:r>
              <a:rPr spc="-25" dirty="0"/>
              <a:t> защиты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5237" y="1453202"/>
            <a:ext cx="3685540" cy="2772410"/>
            <a:chOff x="895237" y="1453202"/>
            <a:chExt cx="3685540" cy="27724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975" y="1453202"/>
              <a:ext cx="3499200" cy="4905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38125" y="1491302"/>
              <a:ext cx="3385185" cy="376555"/>
            </a:xfrm>
            <a:custGeom>
              <a:avLst/>
              <a:gdLst/>
              <a:ahLst/>
              <a:cxnLst/>
              <a:rect l="l" t="t" r="r" b="b"/>
              <a:pathLst>
                <a:path w="3385185" h="376555">
                  <a:moveTo>
                    <a:pt x="3322198" y="376199"/>
                  </a:moveTo>
                  <a:lnTo>
                    <a:pt x="62701" y="376199"/>
                  </a:lnTo>
                  <a:lnTo>
                    <a:pt x="38295" y="371272"/>
                  </a:lnTo>
                  <a:lnTo>
                    <a:pt x="18364" y="357835"/>
                  </a:lnTo>
                  <a:lnTo>
                    <a:pt x="4927" y="337904"/>
                  </a:lnTo>
                  <a:lnTo>
                    <a:pt x="0" y="313498"/>
                  </a:lnTo>
                  <a:lnTo>
                    <a:pt x="0" y="62701"/>
                  </a:lnTo>
                  <a:lnTo>
                    <a:pt x="4927" y="38295"/>
                  </a:lnTo>
                  <a:lnTo>
                    <a:pt x="18364" y="18364"/>
                  </a:lnTo>
                  <a:lnTo>
                    <a:pt x="38295" y="4927"/>
                  </a:lnTo>
                  <a:lnTo>
                    <a:pt x="62701" y="0"/>
                  </a:lnTo>
                  <a:lnTo>
                    <a:pt x="3322198" y="0"/>
                  </a:lnTo>
                  <a:lnTo>
                    <a:pt x="3366534" y="18364"/>
                  </a:lnTo>
                  <a:lnTo>
                    <a:pt x="3384899" y="62701"/>
                  </a:lnTo>
                  <a:lnTo>
                    <a:pt x="3384899" y="313498"/>
                  </a:lnTo>
                  <a:lnTo>
                    <a:pt x="3379972" y="337904"/>
                  </a:lnTo>
                  <a:lnTo>
                    <a:pt x="3366535" y="357835"/>
                  </a:lnTo>
                  <a:lnTo>
                    <a:pt x="3346604" y="371272"/>
                  </a:lnTo>
                  <a:lnTo>
                    <a:pt x="3322198" y="37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975" y="2033391"/>
              <a:ext cx="3499200" cy="4905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38125" y="2071491"/>
              <a:ext cx="3385185" cy="376555"/>
            </a:xfrm>
            <a:custGeom>
              <a:avLst/>
              <a:gdLst/>
              <a:ahLst/>
              <a:cxnLst/>
              <a:rect l="l" t="t" r="r" b="b"/>
              <a:pathLst>
                <a:path w="3385185" h="376555">
                  <a:moveTo>
                    <a:pt x="3322198" y="376199"/>
                  </a:moveTo>
                  <a:lnTo>
                    <a:pt x="62701" y="376199"/>
                  </a:lnTo>
                  <a:lnTo>
                    <a:pt x="38295" y="371272"/>
                  </a:lnTo>
                  <a:lnTo>
                    <a:pt x="18364" y="357835"/>
                  </a:lnTo>
                  <a:lnTo>
                    <a:pt x="4927" y="337904"/>
                  </a:lnTo>
                  <a:lnTo>
                    <a:pt x="0" y="313498"/>
                  </a:lnTo>
                  <a:lnTo>
                    <a:pt x="0" y="62701"/>
                  </a:lnTo>
                  <a:lnTo>
                    <a:pt x="4927" y="38295"/>
                  </a:lnTo>
                  <a:lnTo>
                    <a:pt x="18364" y="18364"/>
                  </a:lnTo>
                  <a:lnTo>
                    <a:pt x="38295" y="4927"/>
                  </a:lnTo>
                  <a:lnTo>
                    <a:pt x="62701" y="0"/>
                  </a:lnTo>
                  <a:lnTo>
                    <a:pt x="3322198" y="0"/>
                  </a:lnTo>
                  <a:lnTo>
                    <a:pt x="3366534" y="18364"/>
                  </a:lnTo>
                  <a:lnTo>
                    <a:pt x="3384899" y="62701"/>
                  </a:lnTo>
                  <a:lnTo>
                    <a:pt x="3384899" y="313498"/>
                  </a:lnTo>
                  <a:lnTo>
                    <a:pt x="3379972" y="337904"/>
                  </a:lnTo>
                  <a:lnTo>
                    <a:pt x="3366535" y="357835"/>
                  </a:lnTo>
                  <a:lnTo>
                    <a:pt x="3346604" y="371272"/>
                  </a:lnTo>
                  <a:lnTo>
                    <a:pt x="3322198" y="37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975" y="2613576"/>
              <a:ext cx="3499200" cy="4905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38125" y="2651676"/>
              <a:ext cx="3385185" cy="376555"/>
            </a:xfrm>
            <a:custGeom>
              <a:avLst/>
              <a:gdLst/>
              <a:ahLst/>
              <a:cxnLst/>
              <a:rect l="l" t="t" r="r" b="b"/>
              <a:pathLst>
                <a:path w="3385185" h="376555">
                  <a:moveTo>
                    <a:pt x="3322198" y="376199"/>
                  </a:moveTo>
                  <a:lnTo>
                    <a:pt x="62701" y="376199"/>
                  </a:lnTo>
                  <a:lnTo>
                    <a:pt x="38295" y="371272"/>
                  </a:lnTo>
                  <a:lnTo>
                    <a:pt x="18364" y="357835"/>
                  </a:lnTo>
                  <a:lnTo>
                    <a:pt x="4927" y="337904"/>
                  </a:lnTo>
                  <a:lnTo>
                    <a:pt x="0" y="313498"/>
                  </a:lnTo>
                  <a:lnTo>
                    <a:pt x="0" y="62701"/>
                  </a:lnTo>
                  <a:lnTo>
                    <a:pt x="4927" y="38295"/>
                  </a:lnTo>
                  <a:lnTo>
                    <a:pt x="18364" y="18364"/>
                  </a:lnTo>
                  <a:lnTo>
                    <a:pt x="38295" y="4927"/>
                  </a:lnTo>
                  <a:lnTo>
                    <a:pt x="62701" y="0"/>
                  </a:lnTo>
                  <a:lnTo>
                    <a:pt x="3322198" y="0"/>
                  </a:lnTo>
                  <a:lnTo>
                    <a:pt x="3366534" y="18364"/>
                  </a:lnTo>
                  <a:lnTo>
                    <a:pt x="3384899" y="62701"/>
                  </a:lnTo>
                  <a:lnTo>
                    <a:pt x="3384899" y="313498"/>
                  </a:lnTo>
                  <a:lnTo>
                    <a:pt x="3379972" y="337904"/>
                  </a:lnTo>
                  <a:lnTo>
                    <a:pt x="3366535" y="357835"/>
                  </a:lnTo>
                  <a:lnTo>
                    <a:pt x="3346604" y="371272"/>
                  </a:lnTo>
                  <a:lnTo>
                    <a:pt x="3322198" y="37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975" y="3208125"/>
              <a:ext cx="3499200" cy="4905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38125" y="3246225"/>
              <a:ext cx="3385185" cy="376555"/>
            </a:xfrm>
            <a:custGeom>
              <a:avLst/>
              <a:gdLst/>
              <a:ahLst/>
              <a:cxnLst/>
              <a:rect l="l" t="t" r="r" b="b"/>
              <a:pathLst>
                <a:path w="3385185" h="376554">
                  <a:moveTo>
                    <a:pt x="3322198" y="376199"/>
                  </a:moveTo>
                  <a:lnTo>
                    <a:pt x="62701" y="376199"/>
                  </a:lnTo>
                  <a:lnTo>
                    <a:pt x="38295" y="371272"/>
                  </a:lnTo>
                  <a:lnTo>
                    <a:pt x="18364" y="357835"/>
                  </a:lnTo>
                  <a:lnTo>
                    <a:pt x="4927" y="337904"/>
                  </a:lnTo>
                  <a:lnTo>
                    <a:pt x="0" y="313498"/>
                  </a:lnTo>
                  <a:lnTo>
                    <a:pt x="0" y="62701"/>
                  </a:lnTo>
                  <a:lnTo>
                    <a:pt x="4927" y="38295"/>
                  </a:lnTo>
                  <a:lnTo>
                    <a:pt x="18364" y="18364"/>
                  </a:lnTo>
                  <a:lnTo>
                    <a:pt x="38295" y="4927"/>
                  </a:lnTo>
                  <a:lnTo>
                    <a:pt x="62701" y="0"/>
                  </a:lnTo>
                  <a:lnTo>
                    <a:pt x="3322198" y="0"/>
                  </a:lnTo>
                  <a:lnTo>
                    <a:pt x="3366534" y="18364"/>
                  </a:lnTo>
                  <a:lnTo>
                    <a:pt x="3384899" y="62701"/>
                  </a:lnTo>
                  <a:lnTo>
                    <a:pt x="3384899" y="313498"/>
                  </a:lnTo>
                  <a:lnTo>
                    <a:pt x="3379972" y="337904"/>
                  </a:lnTo>
                  <a:lnTo>
                    <a:pt x="3366535" y="357835"/>
                  </a:lnTo>
                  <a:lnTo>
                    <a:pt x="3346604" y="371272"/>
                  </a:lnTo>
                  <a:lnTo>
                    <a:pt x="3322198" y="37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00000" y="1679402"/>
              <a:ext cx="238760" cy="2282190"/>
            </a:xfrm>
            <a:custGeom>
              <a:avLst/>
              <a:gdLst/>
              <a:ahLst/>
              <a:cxnLst/>
              <a:rect l="l" t="t" r="r" b="b"/>
              <a:pathLst>
                <a:path w="238759" h="2282190">
                  <a:moveTo>
                    <a:pt x="238124" y="0"/>
                  </a:moveTo>
                  <a:lnTo>
                    <a:pt x="0" y="0"/>
                  </a:lnTo>
                  <a:lnTo>
                    <a:pt x="0" y="580199"/>
                  </a:lnTo>
                  <a:lnTo>
                    <a:pt x="238724" y="580199"/>
                  </a:lnTo>
                </a:path>
                <a:path w="238759" h="2282190">
                  <a:moveTo>
                    <a:pt x="238124" y="580189"/>
                  </a:moveTo>
                  <a:lnTo>
                    <a:pt x="0" y="580189"/>
                  </a:lnTo>
                  <a:lnTo>
                    <a:pt x="0" y="1160389"/>
                  </a:lnTo>
                  <a:lnTo>
                    <a:pt x="238724" y="1160389"/>
                  </a:lnTo>
                </a:path>
                <a:path w="238759" h="2282190">
                  <a:moveTo>
                    <a:pt x="238124" y="1160374"/>
                  </a:moveTo>
                  <a:lnTo>
                    <a:pt x="0" y="1160374"/>
                  </a:lnTo>
                  <a:lnTo>
                    <a:pt x="0" y="1754974"/>
                  </a:lnTo>
                  <a:lnTo>
                    <a:pt x="238724" y="1754974"/>
                  </a:lnTo>
                </a:path>
                <a:path w="238759" h="2282190">
                  <a:moveTo>
                    <a:pt x="238124" y="1754922"/>
                  </a:moveTo>
                  <a:lnTo>
                    <a:pt x="0" y="1754922"/>
                  </a:lnTo>
                  <a:lnTo>
                    <a:pt x="0" y="2281722"/>
                  </a:lnTo>
                  <a:lnTo>
                    <a:pt x="238724" y="2281722"/>
                  </a:lnTo>
                </a:path>
              </a:pathLst>
            </a:custGeom>
            <a:ln w="9524">
              <a:solidFill>
                <a:srgbClr val="3E29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987" y="3734775"/>
              <a:ext cx="3499200" cy="4905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38137" y="3772875"/>
              <a:ext cx="3385185" cy="376555"/>
            </a:xfrm>
            <a:custGeom>
              <a:avLst/>
              <a:gdLst/>
              <a:ahLst/>
              <a:cxnLst/>
              <a:rect l="l" t="t" r="r" b="b"/>
              <a:pathLst>
                <a:path w="3385185" h="376554">
                  <a:moveTo>
                    <a:pt x="3322198" y="376199"/>
                  </a:moveTo>
                  <a:lnTo>
                    <a:pt x="62701" y="376199"/>
                  </a:lnTo>
                  <a:lnTo>
                    <a:pt x="38295" y="371272"/>
                  </a:lnTo>
                  <a:lnTo>
                    <a:pt x="18364" y="357835"/>
                  </a:lnTo>
                  <a:lnTo>
                    <a:pt x="4927" y="337904"/>
                  </a:lnTo>
                  <a:lnTo>
                    <a:pt x="0" y="313498"/>
                  </a:lnTo>
                  <a:lnTo>
                    <a:pt x="0" y="62701"/>
                  </a:lnTo>
                  <a:lnTo>
                    <a:pt x="4927" y="38295"/>
                  </a:lnTo>
                  <a:lnTo>
                    <a:pt x="18364" y="18364"/>
                  </a:lnTo>
                  <a:lnTo>
                    <a:pt x="38295" y="4927"/>
                  </a:lnTo>
                  <a:lnTo>
                    <a:pt x="62701" y="0"/>
                  </a:lnTo>
                  <a:lnTo>
                    <a:pt x="3322198" y="0"/>
                  </a:lnTo>
                  <a:lnTo>
                    <a:pt x="3366534" y="18364"/>
                  </a:lnTo>
                  <a:lnTo>
                    <a:pt x="3384899" y="62701"/>
                  </a:lnTo>
                  <a:lnTo>
                    <a:pt x="3384899" y="313498"/>
                  </a:lnTo>
                  <a:lnTo>
                    <a:pt x="3379972" y="337904"/>
                  </a:lnTo>
                  <a:lnTo>
                    <a:pt x="3366535" y="357835"/>
                  </a:lnTo>
                  <a:lnTo>
                    <a:pt x="3346604" y="371272"/>
                  </a:lnTo>
                  <a:lnTo>
                    <a:pt x="3322198" y="376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05714" y="1554815"/>
            <a:ext cx="2945765" cy="2520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Roboto"/>
                <a:cs typeface="Roboto"/>
              </a:rPr>
              <a:t>Цель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и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spc="-20" dirty="0">
                <a:latin typeface="Roboto"/>
                <a:cs typeface="Roboto"/>
              </a:rPr>
              <a:t>задачи </a:t>
            </a:r>
            <a:r>
              <a:rPr sz="1400" spc="-10" dirty="0">
                <a:latin typeface="Roboto"/>
                <a:cs typeface="Roboto"/>
              </a:rPr>
              <a:t>проекта</a:t>
            </a:r>
            <a:endParaRPr sz="1400">
              <a:latin typeface="Roboto"/>
              <a:cs typeface="Roboto"/>
            </a:endParaRPr>
          </a:p>
          <a:p>
            <a:pPr marL="12700" marR="5080">
              <a:lnSpc>
                <a:spcPct val="271900"/>
              </a:lnSpc>
            </a:pPr>
            <a:r>
              <a:rPr sz="1400" dirty="0">
                <a:latin typeface="Roboto"/>
                <a:cs typeface="Roboto"/>
              </a:rPr>
              <a:t>Какие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технологии</a:t>
            </a:r>
            <a:r>
              <a:rPr sz="1400" spc="-2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использовались </a:t>
            </a:r>
            <a:r>
              <a:rPr sz="1400" dirty="0">
                <a:latin typeface="Roboto"/>
                <a:cs typeface="Roboto"/>
              </a:rPr>
              <a:t>Что</a:t>
            </a:r>
            <a:r>
              <a:rPr sz="1400" spc="-85" dirty="0">
                <a:latin typeface="Roboto"/>
                <a:cs typeface="Roboto"/>
              </a:rPr>
              <a:t> </a:t>
            </a:r>
            <a:r>
              <a:rPr sz="1400" spc="-10" dirty="0">
                <a:latin typeface="Roboto"/>
                <a:cs typeface="Roboto"/>
              </a:rPr>
              <a:t>получилось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Roboto"/>
                <a:cs typeface="Roboto"/>
              </a:rPr>
              <a:t>Выводы</a:t>
            </a:r>
            <a:endParaRPr sz="14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Roboto"/>
                <a:cs typeface="Roboto"/>
              </a:rPr>
              <a:t>Вопросы</a:t>
            </a:r>
            <a:r>
              <a:rPr sz="1400" spc="-15" dirty="0">
                <a:latin typeface="Roboto"/>
                <a:cs typeface="Roboto"/>
              </a:rPr>
              <a:t> </a:t>
            </a:r>
            <a:r>
              <a:rPr sz="1400" dirty="0">
                <a:latin typeface="Roboto"/>
                <a:cs typeface="Roboto"/>
              </a:rPr>
              <a:t>и</a:t>
            </a:r>
            <a:r>
              <a:rPr sz="1400" spc="-10" dirty="0">
                <a:latin typeface="Roboto"/>
                <a:cs typeface="Roboto"/>
              </a:rPr>
              <a:t> рекомендации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3525" y="382665"/>
            <a:ext cx="4178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Цель</a:t>
            </a:r>
            <a:r>
              <a:rPr sz="3000" spc="-55" dirty="0"/>
              <a:t> </a:t>
            </a:r>
            <a:r>
              <a:rPr sz="3000" dirty="0"/>
              <a:t>и</a:t>
            </a:r>
            <a:r>
              <a:rPr sz="3000" spc="-50" dirty="0"/>
              <a:t> </a:t>
            </a:r>
            <a:r>
              <a:rPr sz="3000" spc="-35" dirty="0"/>
              <a:t>задачи</a:t>
            </a:r>
            <a:r>
              <a:rPr sz="3000" spc="-50" dirty="0"/>
              <a:t> </a:t>
            </a:r>
            <a:r>
              <a:rPr sz="3000" spc="-10" dirty="0"/>
              <a:t>проекта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130300" y="2447022"/>
            <a:ext cx="20129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3E299A"/>
                </a:solidFill>
                <a:latin typeface="Roboto"/>
                <a:cs typeface="Roboto"/>
              </a:rPr>
              <a:t>1.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600" b="1" spc="-25" dirty="0">
                <a:solidFill>
                  <a:srgbClr val="3E299A"/>
                </a:solidFill>
                <a:latin typeface="Roboto"/>
                <a:cs typeface="Roboto"/>
              </a:rPr>
              <a:t>2.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600" b="1" spc="-25" dirty="0">
                <a:solidFill>
                  <a:srgbClr val="3E299A"/>
                </a:solidFill>
                <a:latin typeface="Roboto"/>
                <a:cs typeface="Roboto"/>
              </a:rPr>
              <a:t>3.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35"/>
              </a:spcBef>
            </a:pPr>
            <a:r>
              <a:rPr sz="1600" b="1" spc="-25" dirty="0">
                <a:solidFill>
                  <a:srgbClr val="3E299A"/>
                </a:solidFill>
                <a:latin typeface="Roboto"/>
                <a:cs typeface="Roboto"/>
              </a:rPr>
              <a:t>4.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19725" y="2448037"/>
            <a:ext cx="63741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spc="-35" dirty="0">
                <a:latin typeface="Roboto"/>
                <a:cs typeface="Roboto"/>
              </a:rPr>
              <a:t>Спроектировать сетевую инфраструктуру топологии </a:t>
            </a:r>
            <a:r>
              <a:rPr lang="en-US" sz="1400" spc="-35" dirty="0">
                <a:latin typeface="Roboto"/>
                <a:cs typeface="Roboto"/>
              </a:rPr>
              <a:t>CLOS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9725" y="2874713"/>
            <a:ext cx="365950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spc="-20" dirty="0">
                <a:latin typeface="Roboto"/>
                <a:cs typeface="Roboto"/>
              </a:rPr>
              <a:t>Реализовать отказоустойчивость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9724" y="3221722"/>
            <a:ext cx="419989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spc="-10" dirty="0">
                <a:latin typeface="Roboto"/>
                <a:cs typeface="Roboto"/>
              </a:rPr>
              <a:t>Обеспечить масштабируемость с возможностью оперативного добавления новых </a:t>
            </a:r>
            <a:r>
              <a:rPr lang="en-US" sz="1400" spc="-10" dirty="0">
                <a:latin typeface="Roboto"/>
                <a:cs typeface="Roboto"/>
              </a:rPr>
              <a:t>POD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19726" y="3768154"/>
            <a:ext cx="3659503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spc="-20" dirty="0">
                <a:latin typeface="Roboto"/>
                <a:cs typeface="Roboto"/>
              </a:rPr>
              <a:t>Обеспечить </a:t>
            </a:r>
            <a:r>
              <a:rPr lang="en-US" sz="1400" spc="-20" dirty="0">
                <a:latin typeface="Roboto"/>
                <a:cs typeface="Roboto"/>
              </a:rPr>
              <a:t>L2</a:t>
            </a:r>
            <a:r>
              <a:rPr lang="ru-RU" sz="1400" spc="-20" dirty="0">
                <a:latin typeface="Roboto"/>
                <a:cs typeface="Roboto"/>
              </a:rPr>
              <a:t> связность между </a:t>
            </a:r>
            <a:r>
              <a:rPr lang="en-US" sz="1400" spc="-20" dirty="0">
                <a:latin typeface="Roboto"/>
                <a:cs typeface="Roboto"/>
              </a:rPr>
              <a:t>POD</a:t>
            </a:r>
            <a:r>
              <a:rPr sz="1400" spc="-20" dirty="0">
                <a:latin typeface="Roboto"/>
                <a:cs typeface="Roboto"/>
              </a:rPr>
              <a:t>.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11567" y="585587"/>
            <a:ext cx="27254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sz="11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09796" y="1223409"/>
            <a:ext cx="6609715" cy="214802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55"/>
              </a:spcBef>
            </a:pPr>
            <a:endParaRPr sz="11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Какие</a:t>
            </a:r>
            <a:r>
              <a:rPr sz="3000" spc="-70" dirty="0"/>
              <a:t> </a:t>
            </a:r>
            <a:r>
              <a:rPr sz="3000" spc="-10" dirty="0"/>
              <a:t>технологии</a:t>
            </a:r>
            <a:r>
              <a:rPr sz="3000" spc="-70" dirty="0"/>
              <a:t> </a:t>
            </a:r>
            <a:r>
              <a:rPr sz="3000" spc="-10" dirty="0"/>
              <a:t>использовались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1130300" y="1962672"/>
            <a:ext cx="201295" cy="684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3E299A"/>
                </a:solidFill>
                <a:latin typeface="Roboto"/>
                <a:cs typeface="Roboto"/>
              </a:rPr>
              <a:t>1.</a:t>
            </a:r>
            <a:r>
              <a:rPr lang="ru-RU" sz="1600" b="1" spc="-25" dirty="0">
                <a:solidFill>
                  <a:srgbClr val="3E299A"/>
                </a:solidFill>
                <a:latin typeface="Roboto"/>
                <a:cs typeface="Roboto"/>
              </a:rPr>
              <a:t> </a:t>
            </a:r>
            <a:endParaRPr sz="16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600" b="1" spc="-25" dirty="0">
                <a:solidFill>
                  <a:srgbClr val="3E299A"/>
                </a:solidFill>
                <a:latin typeface="Roboto"/>
                <a:cs typeface="Roboto"/>
              </a:rPr>
              <a:t>2.</a:t>
            </a:r>
            <a:endParaRPr sz="1600" dirty="0">
              <a:latin typeface="Roboto"/>
              <a:cs typeface="Robo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54E84-5BBB-4555-8114-68A5706A9A08}"/>
              </a:ext>
            </a:extLst>
          </p:cNvPr>
          <p:cNvSpPr txBox="1"/>
          <p:nvPr/>
        </p:nvSpPr>
        <p:spPr>
          <a:xfrm>
            <a:off x="1371600" y="1885950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iBGP</a:t>
            </a:r>
            <a:r>
              <a:rPr lang="ru-RU" dirty="0"/>
              <a:t> для </a:t>
            </a:r>
            <a:r>
              <a:rPr lang="en-US" dirty="0"/>
              <a:t>Underlay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98F35D-96A1-480F-ABDD-4F4B88824477}"/>
              </a:ext>
            </a:extLst>
          </p:cNvPr>
          <p:cNvSpPr txBox="1"/>
          <p:nvPr/>
        </p:nvSpPr>
        <p:spPr>
          <a:xfrm>
            <a:off x="1371600" y="2343561"/>
            <a:ext cx="3044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BGP EVPN VXLAN Overlay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6476"/>
            <a:ext cx="7996849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000" dirty="0"/>
              <a:t>Схема</a:t>
            </a:r>
            <a:endParaRPr sz="3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B5E4F63-7DE9-4CB4-89D4-2B0766802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20893"/>
            <a:ext cx="5382562" cy="47017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136990-DBC7-44E6-AFE6-48D81B1ECF88}"/>
              </a:ext>
            </a:extLst>
          </p:cNvPr>
          <p:cNvSpPr txBox="1"/>
          <p:nvPr/>
        </p:nvSpPr>
        <p:spPr>
          <a:xfrm>
            <a:off x="838200" y="438150"/>
            <a:ext cx="302198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000" dirty="0">
                <a:latin typeface="Roboto"/>
              </a:rPr>
              <a:t>Что получилось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F57B3-BBFA-4390-A41D-681BAB3964EC}"/>
              </a:ext>
            </a:extLst>
          </p:cNvPr>
          <p:cNvSpPr txBox="1"/>
          <p:nvPr/>
        </p:nvSpPr>
        <p:spPr>
          <a:xfrm>
            <a:off x="152401" y="1180173"/>
            <a:ext cx="838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Из-за скудных ресурсов в </a:t>
            </a:r>
            <a:r>
              <a:rPr lang="en-US" dirty="0" err="1"/>
              <a:t>Pnetlab</a:t>
            </a:r>
            <a:r>
              <a:rPr lang="ru-RU" dirty="0"/>
              <a:t> получилось только сделать довольно простенькую схему </a:t>
            </a:r>
            <a:r>
              <a:rPr lang="en-US" dirty="0" err="1"/>
              <a:t>Multipod</a:t>
            </a:r>
            <a:r>
              <a:rPr lang="en-US" dirty="0"/>
              <a:t>,</a:t>
            </a:r>
            <a:r>
              <a:rPr lang="ru-RU" dirty="0"/>
              <a:t> к сожалению</a:t>
            </a:r>
            <a:r>
              <a:rPr lang="en-US" dirty="0"/>
              <a:t>, </a:t>
            </a:r>
            <a:r>
              <a:rPr lang="ru-RU" dirty="0"/>
              <a:t>без </a:t>
            </a:r>
            <a:r>
              <a:rPr lang="en-US" dirty="0"/>
              <a:t>VPC, </a:t>
            </a:r>
            <a:r>
              <a:rPr lang="ru-RU" dirty="0"/>
              <a:t>без </a:t>
            </a:r>
            <a:r>
              <a:rPr lang="en-US" dirty="0"/>
              <a:t>BFD</a:t>
            </a:r>
            <a:r>
              <a:rPr lang="ru-RU" dirty="0"/>
              <a:t>, без выделенных </a:t>
            </a:r>
            <a:r>
              <a:rPr lang="en-US" dirty="0" err="1"/>
              <a:t>borded</a:t>
            </a:r>
            <a:r>
              <a:rPr lang="en-US" dirty="0"/>
              <a:t>-leaf</a:t>
            </a:r>
            <a:r>
              <a:rPr lang="ru-RU" dirty="0"/>
              <a:t>-коммутаторов.</a:t>
            </a:r>
          </a:p>
          <a:p>
            <a:r>
              <a:rPr lang="ru-RU" dirty="0"/>
              <a:t>Но в целом, удалось построить топологию </a:t>
            </a:r>
            <a:r>
              <a:rPr lang="en-US" dirty="0"/>
              <a:t>CLOS</a:t>
            </a:r>
            <a:r>
              <a:rPr lang="ru-RU" dirty="0"/>
              <a:t> и реализовать </a:t>
            </a:r>
            <a:r>
              <a:rPr lang="en-US" dirty="0" err="1"/>
              <a:t>Multipod</a:t>
            </a:r>
            <a:r>
              <a:rPr lang="en-US" dirty="0"/>
              <a:t>. </a:t>
            </a:r>
          </a:p>
          <a:p>
            <a:r>
              <a:rPr lang="ru-RU" dirty="0"/>
              <a:t>При необходимости не составит большого труда добавить дополнительные</a:t>
            </a:r>
            <a:r>
              <a:rPr lang="en-US" dirty="0"/>
              <a:t> POD.</a:t>
            </a:r>
            <a:endParaRPr lang="ru-RU" dirty="0"/>
          </a:p>
          <a:p>
            <a:endParaRPr lang="ru-RU" dirty="0"/>
          </a:p>
          <a:p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950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35B6E7-CF25-423C-AB7E-E871A344D8F4}"/>
              </a:ext>
            </a:extLst>
          </p:cNvPr>
          <p:cNvSpPr txBox="1"/>
          <p:nvPr/>
        </p:nvSpPr>
        <p:spPr>
          <a:xfrm>
            <a:off x="104681" y="133350"/>
            <a:ext cx="8934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После настройки проверяем доступность всех </a:t>
            </a:r>
            <a:r>
              <a:rPr lang="ru-RU" sz="2000" dirty="0" err="1"/>
              <a:t>лупбеков</a:t>
            </a:r>
            <a:r>
              <a:rPr lang="ru-RU" sz="2000" dirty="0"/>
              <a:t> коммутаторов:</a:t>
            </a:r>
          </a:p>
          <a:p>
            <a:endParaRPr lang="ru-RU" sz="2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E3CED4-B8A0-4030-825A-AD60E8689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742950"/>
            <a:ext cx="3985894" cy="40386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1166E6-C680-44F5-82D2-1F1C54ED9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694" y="742950"/>
            <a:ext cx="2005263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197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82DD9-7C83-4778-825E-9667B429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75" y="386476"/>
            <a:ext cx="7996849" cy="615553"/>
          </a:xfrm>
        </p:spPr>
        <p:txBody>
          <a:bodyPr/>
          <a:lstStyle/>
          <a:p>
            <a:r>
              <a:rPr lang="ru-RU" sz="2000" dirty="0"/>
              <a:t>Настраиваем адресацию конечных хостов и проверяем доступность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1A081A-E7AF-4718-A60C-219599DC4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70359"/>
            <a:ext cx="9144000" cy="109207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A499649-380E-430E-9A0F-A8177EEF8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62433"/>
            <a:ext cx="9144000" cy="11025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90AD51-DF5C-421F-A504-63A8DBDBEBCD}"/>
              </a:ext>
            </a:extLst>
          </p:cNvPr>
          <p:cNvSpPr txBox="1"/>
          <p:nvPr/>
        </p:nvSpPr>
        <p:spPr>
          <a:xfrm>
            <a:off x="228600" y="3714750"/>
            <a:ext cx="563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Мак-адреса конечных хостов видны на обоих </a:t>
            </a:r>
            <a:r>
              <a:rPr lang="en-US" dirty="0"/>
              <a:t>POD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9985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C8599B-767A-4A64-AFB5-6E0906A230C0}"/>
              </a:ext>
            </a:extLst>
          </p:cNvPr>
          <p:cNvSpPr txBox="1"/>
          <p:nvPr/>
        </p:nvSpPr>
        <p:spPr>
          <a:xfrm>
            <a:off x="694175" y="209550"/>
            <a:ext cx="775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 всех коммутаторах обоих </a:t>
            </a:r>
            <a:r>
              <a:rPr lang="en-US" dirty="0"/>
              <a:t>POD</a:t>
            </a:r>
            <a:r>
              <a:rPr lang="ru-RU" dirty="0"/>
              <a:t> есть маршруты до конечных хостов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9DA983-0AD9-4079-ACEE-55097A71B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1203005"/>
            <a:ext cx="3780671" cy="106192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67A349-84C0-41F5-9F1F-71B07F955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105150"/>
            <a:ext cx="3780671" cy="12192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801DD0C-D40F-422B-A2D6-6AF8086133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1203005"/>
            <a:ext cx="3810000" cy="106364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C5061BA-6530-4E7F-B787-060D9A07FC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104455"/>
            <a:ext cx="3810000" cy="121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57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4A8A8D4-6235-450F-9398-77E4D1B38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20" y="133350"/>
            <a:ext cx="4267200" cy="233425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B930DE-8C89-4908-AD8F-E9CB92E6F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20" y="2467602"/>
            <a:ext cx="4267200" cy="18567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AD7B45-0C16-4A6A-BF64-E91E4E54F701}"/>
              </a:ext>
            </a:extLst>
          </p:cNvPr>
          <p:cNvSpPr txBox="1"/>
          <p:nvPr/>
        </p:nvSpPr>
        <p:spPr>
          <a:xfrm>
            <a:off x="152400" y="4432522"/>
            <a:ext cx="9201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Хосты </a:t>
            </a:r>
            <a:r>
              <a:rPr lang="ru-RU" dirty="0" err="1"/>
              <a:t>пингуют</a:t>
            </a:r>
            <a:r>
              <a:rPr lang="ru-RU" dirty="0"/>
              <a:t> шлюз, </a:t>
            </a:r>
            <a:r>
              <a:rPr lang="ru-RU" dirty="0" err="1"/>
              <a:t>пингуют</a:t>
            </a:r>
            <a:r>
              <a:rPr lang="ru-RU" dirty="0"/>
              <a:t> друг друга, следовательно, всё работает корректно</a:t>
            </a:r>
          </a:p>
        </p:txBody>
      </p:sp>
    </p:spTree>
    <p:extLst>
      <p:ext uri="{BB962C8B-B14F-4D97-AF65-F5344CB8AC3E}">
        <p14:creationId xmlns:p14="http://schemas.microsoft.com/office/powerpoint/2010/main" val="558479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45" dirty="0" err="1"/>
              <a:t>Выводы</a:t>
            </a:r>
            <a:r>
              <a:rPr lang="ru-RU" sz="3400" spc="-45" dirty="0"/>
              <a:t> и что можно улучшить</a:t>
            </a:r>
            <a:endParaRPr sz="3400" dirty="0"/>
          </a:p>
        </p:txBody>
      </p:sp>
      <p:sp>
        <p:nvSpPr>
          <p:cNvPr id="3" name="object 3"/>
          <p:cNvSpPr txBox="1"/>
          <p:nvPr/>
        </p:nvSpPr>
        <p:spPr>
          <a:xfrm>
            <a:off x="1130300" y="1783297"/>
            <a:ext cx="201295" cy="1110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3E299A"/>
                </a:solidFill>
                <a:latin typeface="Roboto"/>
                <a:cs typeface="Roboto"/>
              </a:rPr>
              <a:t>1.</a:t>
            </a:r>
            <a:r>
              <a:rPr lang="ru-RU" sz="1600" b="1" spc="-25" dirty="0">
                <a:solidFill>
                  <a:srgbClr val="3E299A"/>
                </a:solidFill>
                <a:latin typeface="Roboto"/>
                <a:cs typeface="Roboto"/>
              </a:rPr>
              <a:t> </a:t>
            </a:r>
            <a:endParaRPr sz="16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600" b="1" spc="-25" dirty="0">
                <a:solidFill>
                  <a:srgbClr val="3E299A"/>
                </a:solidFill>
                <a:latin typeface="Roboto"/>
                <a:cs typeface="Roboto"/>
              </a:rPr>
              <a:t>2.</a:t>
            </a:r>
            <a:endParaRPr sz="16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600" b="1" spc="-25" dirty="0">
                <a:solidFill>
                  <a:srgbClr val="3E299A"/>
                </a:solidFill>
                <a:latin typeface="Roboto"/>
                <a:cs typeface="Roboto"/>
              </a:rPr>
              <a:t>3.</a:t>
            </a:r>
            <a:endParaRPr sz="1600" dirty="0">
              <a:latin typeface="Roboto"/>
              <a:cs typeface="Robot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D865B-C671-423E-869F-4E582D468EEB}"/>
              </a:ext>
            </a:extLst>
          </p:cNvPr>
          <p:cNvSpPr txBox="1"/>
          <p:nvPr/>
        </p:nvSpPr>
        <p:spPr>
          <a:xfrm>
            <a:off x="1310691" y="1733550"/>
            <a:ext cx="767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 идеале необходимо повысить отказоустойчивость (настроить </a:t>
            </a:r>
            <a:r>
              <a:rPr lang="en-US" dirty="0"/>
              <a:t>VPC)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ECFA18-512F-44A2-8069-250ACE3C10A4}"/>
              </a:ext>
            </a:extLst>
          </p:cNvPr>
          <p:cNvSpPr txBox="1"/>
          <p:nvPr/>
        </p:nvSpPr>
        <p:spPr>
          <a:xfrm>
            <a:off x="1310691" y="2153911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Включить </a:t>
            </a:r>
            <a:r>
              <a:rPr lang="en-US" dirty="0"/>
              <a:t>bfd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CD6A5F-54B2-4523-B994-62CD2FA8F18A}"/>
              </a:ext>
            </a:extLst>
          </p:cNvPr>
          <p:cNvSpPr txBox="1"/>
          <p:nvPr/>
        </p:nvSpPr>
        <p:spPr>
          <a:xfrm>
            <a:off x="1289082" y="2523243"/>
            <a:ext cx="7122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данную схему стоит добавить </a:t>
            </a:r>
            <a:r>
              <a:rPr lang="en-US" dirty="0"/>
              <a:t>border-leaf </a:t>
            </a:r>
            <a:r>
              <a:rPr lang="ru-RU" dirty="0"/>
              <a:t>коммутаторы для подключения внешних устройств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075" y="1848561"/>
            <a:ext cx="62649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</a:rPr>
              <a:t>Вопросы</a:t>
            </a:r>
            <a:r>
              <a:rPr sz="4000" spc="-11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и</a:t>
            </a:r>
            <a:r>
              <a:rPr sz="4000" spc="-105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рекомендации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287720" y="3127380"/>
            <a:ext cx="17259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08021" y="3127380"/>
            <a:ext cx="17018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025" y="2897606"/>
            <a:ext cx="4104640" cy="68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32529" algn="l"/>
              </a:tabLst>
            </a:pPr>
            <a:r>
              <a:rPr sz="4300" spc="-50" dirty="0">
                <a:solidFill>
                  <a:srgbClr val="FFFFFF"/>
                </a:solidFill>
                <a:latin typeface="Roboto"/>
                <a:cs typeface="Roboto"/>
              </a:rPr>
              <a:t>+</a:t>
            </a:r>
            <a:r>
              <a:rPr sz="4300" dirty="0">
                <a:solidFill>
                  <a:srgbClr val="FFFFFF"/>
                </a:solidFill>
                <a:latin typeface="Roboto"/>
                <a:cs typeface="Roboto"/>
              </a:rPr>
              <a:t>	</a:t>
            </a:r>
            <a:r>
              <a:rPr sz="4300" spc="-95" dirty="0">
                <a:solidFill>
                  <a:srgbClr val="FFFFFF"/>
                </a:solidFill>
                <a:latin typeface="Roboto"/>
                <a:cs typeface="Roboto"/>
              </a:rPr>
              <a:t>–</a:t>
            </a:r>
            <a:endParaRPr sz="430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3361" y="355476"/>
            <a:ext cx="3756660" cy="1637030"/>
            <a:chOff x="5383361" y="355476"/>
            <a:chExt cx="3756660" cy="163703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83361" y="355476"/>
              <a:ext cx="3756355" cy="16366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3613" y="528649"/>
              <a:ext cx="3356304" cy="12365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151063" y="752054"/>
            <a:ext cx="23139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Roboto"/>
                <a:cs typeface="Roboto"/>
              </a:rPr>
              <a:t>Ответьте </a:t>
            </a:r>
            <a:r>
              <a:rPr sz="1200" dirty="0">
                <a:latin typeface="Roboto"/>
                <a:cs typeface="Roboto"/>
              </a:rPr>
              <a:t>на</a:t>
            </a:r>
            <a:r>
              <a:rPr sz="1200" spc="-25" dirty="0">
                <a:latin typeface="Roboto"/>
                <a:cs typeface="Roboto"/>
              </a:rPr>
              <a:t> </a:t>
            </a:r>
            <a:r>
              <a:rPr sz="1200" spc="-10" dirty="0">
                <a:latin typeface="Roboto"/>
                <a:cs typeface="Roboto"/>
              </a:rPr>
              <a:t>вопросы </a:t>
            </a:r>
            <a:r>
              <a:rPr sz="1200" spc="-20" dirty="0">
                <a:latin typeface="Roboto"/>
                <a:cs typeface="Roboto"/>
              </a:rPr>
              <a:t>одногруппников</a:t>
            </a:r>
            <a:r>
              <a:rPr sz="1200" spc="25" dirty="0">
                <a:latin typeface="Roboto"/>
                <a:cs typeface="Roboto"/>
              </a:rPr>
              <a:t> </a:t>
            </a:r>
            <a:r>
              <a:rPr sz="1200" spc="-50" dirty="0">
                <a:latin typeface="Roboto"/>
                <a:cs typeface="Roboto"/>
              </a:rPr>
              <a:t>и </a:t>
            </a:r>
            <a:r>
              <a:rPr sz="1200" spc="-20" dirty="0">
                <a:latin typeface="Roboto"/>
                <a:cs typeface="Roboto"/>
              </a:rPr>
              <a:t>преподавателей</a:t>
            </a:r>
            <a:r>
              <a:rPr sz="1200" spc="20" dirty="0">
                <a:latin typeface="Roboto"/>
                <a:cs typeface="Roboto"/>
              </a:rPr>
              <a:t> </a:t>
            </a:r>
            <a:r>
              <a:rPr sz="1200" dirty="0">
                <a:latin typeface="Roboto"/>
                <a:cs typeface="Roboto"/>
              </a:rPr>
              <a:t>и</a:t>
            </a:r>
            <a:r>
              <a:rPr sz="1200" spc="25" dirty="0">
                <a:latin typeface="Roboto"/>
                <a:cs typeface="Roboto"/>
              </a:rPr>
              <a:t> </a:t>
            </a:r>
            <a:r>
              <a:rPr sz="1200" spc="-10" dirty="0">
                <a:latin typeface="Roboto"/>
                <a:cs typeface="Roboto"/>
              </a:rPr>
              <a:t>получите </a:t>
            </a:r>
            <a:r>
              <a:rPr sz="1200" spc="-20" dirty="0">
                <a:latin typeface="Roboto"/>
                <a:cs typeface="Roboto"/>
              </a:rPr>
              <a:t>обратную</a:t>
            </a:r>
            <a:r>
              <a:rPr sz="1200" spc="-25" dirty="0">
                <a:latin typeface="Roboto"/>
                <a:cs typeface="Roboto"/>
              </a:rPr>
              <a:t> </a:t>
            </a:r>
            <a:r>
              <a:rPr sz="1200" spc="-20" dirty="0">
                <a:latin typeface="Roboto"/>
                <a:cs typeface="Roboto"/>
              </a:rPr>
              <a:t>связь </a:t>
            </a:r>
            <a:r>
              <a:rPr sz="1200" dirty="0">
                <a:latin typeface="Roboto"/>
                <a:cs typeface="Roboto"/>
              </a:rPr>
              <a:t>на</a:t>
            </a:r>
            <a:r>
              <a:rPr sz="1200" spc="-20" dirty="0">
                <a:latin typeface="Roboto"/>
                <a:cs typeface="Roboto"/>
              </a:rPr>
              <a:t> </a:t>
            </a:r>
            <a:r>
              <a:rPr sz="1200" dirty="0">
                <a:latin typeface="Roboto"/>
                <a:cs typeface="Roboto"/>
              </a:rPr>
              <a:t>свою</a:t>
            </a:r>
            <a:r>
              <a:rPr sz="1200" spc="-20" dirty="0">
                <a:latin typeface="Roboto"/>
                <a:cs typeface="Roboto"/>
              </a:rPr>
              <a:t> </a:t>
            </a:r>
            <a:r>
              <a:rPr sz="1200" spc="-10" dirty="0">
                <a:latin typeface="Roboto"/>
                <a:cs typeface="Roboto"/>
              </a:rPr>
              <a:t>работу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2024" y="1980150"/>
            <a:ext cx="666115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dirty="0">
                <a:solidFill>
                  <a:srgbClr val="FFFFFF"/>
                </a:solidFill>
              </a:rPr>
              <a:t>Спасибо</a:t>
            </a:r>
            <a:r>
              <a:rPr sz="5000" spc="-165" dirty="0">
                <a:solidFill>
                  <a:srgbClr val="FFFFFF"/>
                </a:solidFill>
              </a:rPr>
              <a:t> </a:t>
            </a:r>
            <a:r>
              <a:rPr sz="5000" dirty="0">
                <a:solidFill>
                  <a:srgbClr val="FFFFFF"/>
                </a:solidFill>
              </a:rPr>
              <a:t>за</a:t>
            </a:r>
            <a:r>
              <a:rPr sz="5000" spc="-165" dirty="0">
                <a:solidFill>
                  <a:srgbClr val="FFFFFF"/>
                </a:solidFill>
              </a:rPr>
              <a:t> </a:t>
            </a:r>
            <a:r>
              <a:rPr sz="5000" spc="-10" dirty="0">
                <a:solidFill>
                  <a:srgbClr val="FFFFFF"/>
                </a:solidFill>
              </a:rPr>
              <a:t>внимание!</a:t>
            </a:r>
            <a:endParaRPr sz="5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27300" y="231870"/>
            <a:ext cx="2270874" cy="30422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</TotalTime>
  <Words>259</Words>
  <Application>Microsoft Office PowerPoint</Application>
  <PresentationFormat>Экран (16:9)</PresentationFormat>
  <Paragraphs>52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Calibri</vt:lpstr>
      <vt:lpstr>Microsoft Sans Serif</vt:lpstr>
      <vt:lpstr>Roboto</vt:lpstr>
      <vt:lpstr>Roboto Lt</vt:lpstr>
      <vt:lpstr>Office Theme</vt:lpstr>
      <vt:lpstr>Проектирование сети ЦОД с поддержкой L2 связанности</vt:lpstr>
      <vt:lpstr>Меня хорошо видно &amp; слышно?</vt:lpstr>
      <vt:lpstr>Защита проекта  Тема:Проектирование сети ЦОД с поддержкой L2 связанности</vt:lpstr>
      <vt:lpstr>План защиты</vt:lpstr>
      <vt:lpstr>Цель и задачи проекта</vt:lpstr>
      <vt:lpstr>Какие технологии использовались</vt:lpstr>
      <vt:lpstr>Схема</vt:lpstr>
      <vt:lpstr>Презентация PowerPoint</vt:lpstr>
      <vt:lpstr>Презентация PowerPoint</vt:lpstr>
      <vt:lpstr>Настраиваем адресацию конечных хостов и проверяем доступность</vt:lpstr>
      <vt:lpstr>Презентация PowerPoint</vt:lpstr>
      <vt:lpstr>Презентация PowerPoint</vt:lpstr>
      <vt:lpstr>Выводы и что можно улучшить</vt:lpstr>
      <vt:lpstr>Вопросы и рекомендации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защиты проектов для студентов</dc:title>
  <dc:creator>Умнов Валерий Павлович</dc:creator>
  <cp:lastModifiedBy>Умнов Валерий Павлович</cp:lastModifiedBy>
  <cp:revision>11</cp:revision>
  <dcterms:created xsi:type="dcterms:W3CDTF">2025-11-12T12:22:46Z</dcterms:created>
  <dcterms:modified xsi:type="dcterms:W3CDTF">2025-11-19T20:29:10Z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2025-11-12T00:00:00Z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2025-11-12T00:00:00Z</vt:filetime>
  </property>
</Properties>
</file>